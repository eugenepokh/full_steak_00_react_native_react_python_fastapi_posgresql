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92D050"/>
    <a:srgbClr val="EC8D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4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E0724-EEAC-47BD-AD30-F87A2E00C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493FA2-D352-4843-A942-3605EBCDA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03383C-5C78-4AFF-BE11-4E7B6DEF5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41617E-5BF2-424B-9FAD-3BF8454B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375E93-E49B-4EB5-B478-38E45C62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83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C699F-D9BD-4ACC-9BDE-AD3AB31B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7CFF09-E677-4ABC-A29F-DBA677D3A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760664-F1A5-4DF5-AE6F-D056CA48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40ACDF-1414-4C1A-B4C2-F5C1D429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117B20-2195-46DE-A7B1-2DB1AD50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43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F14FE-30E6-4EF7-98C4-F43724A6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7982AB-8A22-4F75-95AE-D0565E2CC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0F87D3-D230-43DB-A039-69CFE4D28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D0856-A148-421D-ACC2-D8F92043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6EEA9D-AD58-480E-AF00-B0F0C2E2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54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9C191-9B43-48A8-A280-BBE59679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F76C9C-BE50-40C1-8B4E-904F5A690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CCB199-F2CB-4B0C-B85B-6D2E2E894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001C3D-A112-4B14-A6EF-D8CF27EE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BB6C79-96D1-43F1-8687-DAC322AC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4979F7-C759-465F-B222-73803022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279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D93F1-EDE6-4231-9A34-437F262A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3D9E52-7187-44C3-BCA5-999836FF8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70205F-680A-433E-A6A9-0631190E6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6A0353-E90A-4859-8C89-16816699B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5E23E59-C733-4299-90E2-234B0BBFF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D11B6D-92C3-4A49-98AA-10C669DE4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67995C7-5618-4B24-AD28-C7355BD26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C7B2B32-D0EF-477F-A76C-A94A34BC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12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33533-7E33-4170-A9DE-0A5F9C29B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E2E8C2-4179-462A-A389-9886E0B7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B9359CC-9B57-4AD7-99BF-D0FDA0FC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E12A6D-BFDB-40E2-A918-1B3205BA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2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42B4B23-B74A-4661-86DF-E1ED31EF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170352-B1A5-45D6-A30E-64CCC050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92AEA1-5A2F-465E-BAE8-C750411A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33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AACDCA-346F-489F-9D37-DBD88B7F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7E2166-513B-4BFF-AF86-F3F629A71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EBF5AE-6724-47C1-8D2F-C54E7E7BE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EFCA94-29E6-400D-AE52-03A1AD20D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B5CE59-F16B-4863-80C2-F787C382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D6BEF2-8841-4A44-9C9D-F798CD01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6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D6B15B-2FB8-464B-A5D8-C5E2B30E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4AF1076-E149-40E6-9AC1-31D273775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759FA3-6911-4A79-AB9A-D4886241F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D70932-A752-4CC0-B905-977194DF5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B06AFF-A35A-432F-9395-99E2A08B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E91804-9A20-4103-8422-E337672B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19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99338-47F5-422A-9649-A74AA95B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EADEDC-3EF1-49C3-8BC7-E0F97FD5B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C32109-47C7-4CD3-B07C-2131E5CD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D3BB5C-A6FC-4E6A-8864-643FAB13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12CDE0-3406-4653-B857-5828F583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14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DB78D95-05CD-427C-BA5E-F26B33E68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30D4E0-B0A9-4E5D-A781-E454214B1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C9FC2E-F5F7-4990-AA00-647F0029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723D4D-2D63-475E-B89D-8A7EE907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A30C66-D3C2-4E3A-983A-2387D73B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52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29F57-4510-4E77-82E8-FF254E7E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87630E-3EBC-41CD-9D9F-588714A8D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B52FE-1FCD-4D19-98E7-3AE248A18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DCB92-7293-4358-898E-77C880D3E2F9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AF4658-50BB-4D2C-8FA1-92D406718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AD1AA3-791B-411C-83A1-BCB557A36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84B2A-5806-406E-958F-B982BF1E7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80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Рисунок 31" descr="Рисунок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42" y="1644583"/>
            <a:ext cx="923301" cy="673942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12" name="Таблица 2"/>
          <p:cNvGraphicFramePr/>
          <p:nvPr>
            <p:extLst>
              <p:ext uri="{D42A27DB-BD31-4B8C-83A1-F6EECF244321}">
                <p14:modId xmlns:p14="http://schemas.microsoft.com/office/powerpoint/2010/main" val="2442877024"/>
              </p:ext>
            </p:extLst>
          </p:nvPr>
        </p:nvGraphicFramePr>
        <p:xfrm>
          <a:off x="81266" y="644400"/>
          <a:ext cx="999779" cy="6159688"/>
        </p:xfrm>
        <a:graphic>
          <a:graphicData uri="http://schemas.openxmlformats.org/drawingml/2006/table">
            <a:tbl>
              <a:tblPr/>
              <a:tblGrid>
                <a:gridCol w="99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1320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dirty="0"/>
                        <a:t>WEB </a:t>
                      </a:r>
                      <a:r>
                        <a:rPr dirty="0" err="1"/>
                        <a:t>интерфейс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мобильное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приложение</a:t>
                      </a:r>
                      <a:r>
                        <a:rPr dirty="0"/>
                        <a:t> (frontend)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6350">
                      <a:solidFill>
                        <a:srgbClr val="FFFFFF"/>
                      </a:solidFill>
                      <a:prstDash val="sysDot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459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dirty="0" err="1"/>
                        <a:t>Серверная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часть</a:t>
                      </a:r>
                      <a:r>
                        <a:rPr dirty="0"/>
                        <a:t> (backend)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FFFFFF"/>
                      </a:solidFill>
                      <a:prstDash val="sysDot"/>
                    </a:lnT>
                    <a:lnB w="6350">
                      <a:solidFill>
                        <a:srgbClr val="FFFFFF"/>
                      </a:solidFill>
                      <a:prstDash val="sysDot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188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Обработка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данных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 хранение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FFFFFF"/>
                      </a:solidFill>
                      <a:prstDash val="sysDot"/>
                    </a:lnT>
                    <a:lnB w="12700">
                      <a:miter lim="400000"/>
                    </a:lnB>
                    <a:solidFill>
                      <a:srgbClr val="F28C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3" name="TextBox 4"/>
          <p:cNvSpPr txBox="1"/>
          <p:nvPr/>
        </p:nvSpPr>
        <p:spPr>
          <a:xfrm>
            <a:off x="4321368" y="5148710"/>
            <a:ext cx="2520281" cy="655611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t>База данных PostgreSQL</a:t>
            </a:r>
          </a:p>
          <a:p>
            <a:pPr algn="ctr"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t>Хранение и отправка данных в интерфейс</a:t>
            </a:r>
          </a:p>
        </p:txBody>
      </p:sp>
      <p:sp>
        <p:nvSpPr>
          <p:cNvPr id="114" name="TextBox 9"/>
          <p:cNvSpPr txBox="1"/>
          <p:nvPr/>
        </p:nvSpPr>
        <p:spPr>
          <a:xfrm>
            <a:off x="3126940" y="5994153"/>
            <a:ext cx="2016225" cy="655611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Клиент</a:t>
            </a:r>
            <a:r>
              <a:rPr dirty="0"/>
              <a:t> pgAdmin4</a:t>
            </a:r>
          </a:p>
          <a:p>
            <a:pPr algn="ctr"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Первичная</a:t>
            </a:r>
            <a:r>
              <a:rPr dirty="0"/>
              <a:t> </a:t>
            </a:r>
            <a:r>
              <a:rPr dirty="0" err="1"/>
              <a:t>выгрузка</a:t>
            </a:r>
            <a:r>
              <a:rPr dirty="0"/>
              <a:t> в </a:t>
            </a:r>
            <a:r>
              <a:rPr dirty="0" err="1"/>
              <a:t>базу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ретроспективных</a:t>
            </a:r>
            <a:r>
              <a:rPr dirty="0"/>
              <a:t> </a:t>
            </a:r>
            <a:r>
              <a:rPr dirty="0" err="1"/>
              <a:t>показателей</a:t>
            </a:r>
            <a:endParaRPr dirty="0"/>
          </a:p>
        </p:txBody>
      </p:sp>
      <p:sp>
        <p:nvSpPr>
          <p:cNvPr id="116" name="TextBox 12"/>
          <p:cNvSpPr txBox="1"/>
          <p:nvPr/>
        </p:nvSpPr>
        <p:spPr>
          <a:xfrm>
            <a:off x="3607695" y="1320030"/>
            <a:ext cx="2520281" cy="707886"/>
          </a:xfrm>
          <a:prstGeom prst="rect">
            <a:avLst/>
          </a:prstGeom>
          <a:ln w="19050">
            <a:solidFill>
              <a:srgbClr val="F28C36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WEB </a:t>
            </a:r>
            <a:r>
              <a:rPr dirty="0" err="1"/>
              <a:t>интерфейс</a:t>
            </a:r>
            <a:endParaRPr dirty="0"/>
          </a:p>
          <a:p>
            <a:pPr algn="ctr"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React Native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обеспечения</a:t>
            </a:r>
            <a:r>
              <a:rPr dirty="0"/>
              <a:t> </a:t>
            </a:r>
            <a:r>
              <a:rPr dirty="0" err="1"/>
              <a:t>кроссплатформенности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WEB, iOS и Android</a:t>
            </a:r>
          </a:p>
        </p:txBody>
      </p:sp>
      <p:sp>
        <p:nvSpPr>
          <p:cNvPr id="117" name="TextBox 13"/>
          <p:cNvSpPr txBox="1"/>
          <p:nvPr/>
        </p:nvSpPr>
        <p:spPr>
          <a:xfrm>
            <a:off x="3607694" y="2835119"/>
            <a:ext cx="2520281" cy="707886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Взаимодействие</a:t>
            </a:r>
            <a:r>
              <a:rPr dirty="0"/>
              <a:t> с </a:t>
            </a:r>
            <a:r>
              <a:rPr dirty="0" err="1"/>
              <a:t>базой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algn="ctr"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lang="en-US" dirty="0" err="1"/>
              <a:t>FastApi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backend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выгрузке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базы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обращение</a:t>
            </a:r>
            <a:r>
              <a:rPr dirty="0"/>
              <a:t> в </a:t>
            </a:r>
            <a:r>
              <a:rPr dirty="0" err="1"/>
              <a:t>скрипты</a:t>
            </a:r>
            <a:r>
              <a:rPr dirty="0"/>
              <a:t> Python </a:t>
            </a:r>
          </a:p>
        </p:txBody>
      </p:sp>
      <p:sp>
        <p:nvSpPr>
          <p:cNvPr id="118" name="TextBox 14"/>
          <p:cNvSpPr txBox="1"/>
          <p:nvPr/>
        </p:nvSpPr>
        <p:spPr>
          <a:xfrm>
            <a:off x="7278266" y="5154382"/>
            <a:ext cx="3888433" cy="400110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Python</a:t>
            </a:r>
          </a:p>
          <a:p>
            <a:pPr marL="171450" indent="-171450">
              <a:buClr>
                <a:srgbClr val="FD15EC"/>
              </a:buClr>
              <a:buSzPct val="100000"/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Различные исполняемые скрипты</a:t>
            </a:r>
            <a:endParaRPr dirty="0"/>
          </a:p>
        </p:txBody>
      </p:sp>
      <p:pic>
        <p:nvPicPr>
          <p:cNvPr id="123" name="Рисунок 25" descr="Рисунок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697" y="5845883"/>
            <a:ext cx="898020" cy="340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266" y="6079191"/>
            <a:ext cx="1092936" cy="728625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Прямоугольник 65"/>
          <p:cNvSpPr txBox="1"/>
          <p:nvPr/>
        </p:nvSpPr>
        <p:spPr>
          <a:xfrm>
            <a:off x="8248662" y="3676444"/>
            <a:ext cx="195609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FD15E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скриптов</a:t>
            </a:r>
            <a:r>
              <a:rPr dirty="0"/>
              <a:t> в Python</a:t>
            </a:r>
          </a:p>
        </p:txBody>
      </p:sp>
      <p:sp>
        <p:nvSpPr>
          <p:cNvPr id="132" name="Прямоугольник 72"/>
          <p:cNvSpPr txBox="1"/>
          <p:nvPr/>
        </p:nvSpPr>
        <p:spPr>
          <a:xfrm>
            <a:off x="4517492" y="3922665"/>
            <a:ext cx="19560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D15E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 err="1">
                <a:solidFill>
                  <a:schemeClr val="tx1"/>
                </a:solidFill>
              </a:rPr>
              <a:t>Обмен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данными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3" name="Прямоугольник 73"/>
          <p:cNvSpPr txBox="1"/>
          <p:nvPr/>
        </p:nvSpPr>
        <p:spPr>
          <a:xfrm>
            <a:off x="3268574" y="2032048"/>
            <a:ext cx="1956098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D15E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 err="1">
                <a:solidFill>
                  <a:schemeClr val="tx1"/>
                </a:solidFill>
              </a:rPr>
              <a:t>Отправка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данных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пользователю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4" name="Прямоугольник 74"/>
          <p:cNvSpPr txBox="1"/>
          <p:nvPr/>
        </p:nvSpPr>
        <p:spPr>
          <a:xfrm>
            <a:off x="4719775" y="2276770"/>
            <a:ext cx="1085556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D15E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 err="1">
                <a:solidFill>
                  <a:schemeClr val="tx1"/>
                </a:solidFill>
              </a:rPr>
              <a:t>Обмен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запросами</a:t>
            </a:r>
            <a:r>
              <a:rPr dirty="0">
                <a:solidFill>
                  <a:schemeClr val="tx1"/>
                </a:solidFill>
              </a:rPr>
              <a:t> / </a:t>
            </a:r>
            <a:r>
              <a:rPr dirty="0" err="1">
                <a:solidFill>
                  <a:schemeClr val="tx1"/>
                </a:solidFill>
              </a:rPr>
              <a:t>данными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6" name="TextBox 12"/>
          <p:cNvSpPr txBox="1"/>
          <p:nvPr/>
        </p:nvSpPr>
        <p:spPr>
          <a:xfrm>
            <a:off x="3607696" y="653571"/>
            <a:ext cx="2520281" cy="400110"/>
          </a:xfrm>
          <a:prstGeom prst="rect">
            <a:avLst/>
          </a:prstGeom>
          <a:ln w="19050">
            <a:solidFill>
              <a:srgbClr val="F28C36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WEB </a:t>
            </a:r>
            <a:r>
              <a:rPr dirty="0" err="1"/>
              <a:t>браузер</a:t>
            </a:r>
            <a:endParaRPr b="0" dirty="0"/>
          </a:p>
        </p:txBody>
      </p:sp>
      <p:sp>
        <p:nvSpPr>
          <p:cNvPr id="138" name="TextBox 4"/>
          <p:cNvSpPr txBox="1"/>
          <p:nvPr/>
        </p:nvSpPr>
        <p:spPr>
          <a:xfrm>
            <a:off x="1251079" y="5122572"/>
            <a:ext cx="2520281" cy="553998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Источники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marL="171450" indent="-171450" defTabSz="457200"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Учетная система </a:t>
            </a:r>
            <a:r>
              <a:rPr lang="ru-RU" sz="1000" dirty="0">
                <a:latin typeface="Arial"/>
                <a:ea typeface="Arial"/>
                <a:cs typeface="Arial"/>
                <a:sym typeface="Arial"/>
              </a:rPr>
              <a:t>(1С и пр.)</a:t>
            </a:r>
          </a:p>
          <a:p>
            <a:pPr marL="171450" indent="-171450" defTabSz="457200"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Прочие источники</a:t>
            </a:r>
            <a:endParaRPr dirty="0"/>
          </a:p>
        </p:txBody>
      </p:sp>
      <p:sp>
        <p:nvSpPr>
          <p:cNvPr id="140" name="Прямоугольник 73"/>
          <p:cNvSpPr txBox="1"/>
          <p:nvPr/>
        </p:nvSpPr>
        <p:spPr>
          <a:xfrm>
            <a:off x="1394487" y="3768116"/>
            <a:ext cx="1410889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D15E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В</a:t>
            </a:r>
            <a:r>
              <a:rPr dirty="0" err="1">
                <a:solidFill>
                  <a:schemeClr val="tx1"/>
                </a:solidFill>
              </a:rPr>
              <a:t>ыгрузка</a:t>
            </a:r>
            <a:r>
              <a:rPr dirty="0">
                <a:solidFill>
                  <a:schemeClr val="tx1"/>
                </a:solidFill>
              </a:rPr>
              <a:t> и </a:t>
            </a:r>
            <a:r>
              <a:rPr dirty="0" err="1">
                <a:solidFill>
                  <a:schemeClr val="tx1"/>
                </a:solidFill>
              </a:rPr>
              <a:t>обновление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данных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4AAE54-9C99-4817-870E-3853C4E929CB}"/>
              </a:ext>
            </a:extLst>
          </p:cNvPr>
          <p:cNvSpPr txBox="1"/>
          <p:nvPr/>
        </p:nvSpPr>
        <p:spPr>
          <a:xfrm>
            <a:off x="513247" y="142350"/>
            <a:ext cx="1109702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УНИВЕРСАЛЬНАЯ РАЗРАБОТКА ИТ РЕШЕНИЙ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9C2589A1-213B-435A-8EAE-D79EEE6263C0}"/>
              </a:ext>
            </a:extLst>
          </p:cNvPr>
          <p:cNvCxnSpPr>
            <a:cxnSpLocks/>
          </p:cNvCxnSpPr>
          <p:nvPr/>
        </p:nvCxnSpPr>
        <p:spPr>
          <a:xfrm>
            <a:off x="581730" y="567403"/>
            <a:ext cx="8863710" cy="0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7770790-B8A8-46CF-ACD4-C99DA3EEA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96" y="1398028"/>
            <a:ext cx="1153094" cy="39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76D52AFB-E103-493F-893B-89B0937C6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955" y="2924369"/>
            <a:ext cx="1186900" cy="21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Соединитель: изогнутый 14">
            <a:extLst>
              <a:ext uri="{FF2B5EF4-FFF2-40B4-BE49-F238E27FC236}">
                <a16:creationId xmlns:a16="http://schemas.microsoft.com/office/drawing/2014/main" id="{08C53DA3-DDE0-41CA-BC83-F07FD1201AF9}"/>
              </a:ext>
            </a:extLst>
          </p:cNvPr>
          <p:cNvCxnSpPr>
            <a:stCxn id="116" idx="0"/>
            <a:endCxn id="136" idx="2"/>
          </p:cNvCxnSpPr>
          <p:nvPr/>
        </p:nvCxnSpPr>
        <p:spPr>
          <a:xfrm rot="5400000" flipH="1" flipV="1">
            <a:off x="4734662" y="1186856"/>
            <a:ext cx="266349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2">
            <a:extLst>
              <a:ext uri="{FF2B5EF4-FFF2-40B4-BE49-F238E27FC236}">
                <a16:creationId xmlns:a16="http://schemas.microsoft.com/office/drawing/2014/main" id="{0BA55172-67E6-4426-BA06-B2EEB5A07BE0}"/>
              </a:ext>
            </a:extLst>
          </p:cNvPr>
          <p:cNvSpPr txBox="1"/>
          <p:nvPr/>
        </p:nvSpPr>
        <p:spPr>
          <a:xfrm>
            <a:off x="6789107" y="661216"/>
            <a:ext cx="2035289" cy="400110"/>
          </a:xfrm>
          <a:prstGeom prst="rect">
            <a:avLst/>
          </a:prstGeom>
          <a:ln w="19050">
            <a:solidFill>
              <a:srgbClr val="F28C36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Доступ</a:t>
            </a:r>
            <a:r>
              <a:rPr dirty="0"/>
              <a:t> </a:t>
            </a:r>
            <a:r>
              <a:rPr lang="ru-RU" dirty="0"/>
              <a:t>через мобильные приложения</a:t>
            </a:r>
            <a:endParaRPr b="0" dirty="0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08B04685-585F-4EF5-B995-7256FBB45C42}"/>
              </a:ext>
            </a:extLst>
          </p:cNvPr>
          <p:cNvCxnSpPr>
            <a:cxnSpLocks/>
            <a:stCxn id="116" idx="3"/>
            <a:endCxn id="51" idx="2"/>
          </p:cNvCxnSpPr>
          <p:nvPr/>
        </p:nvCxnSpPr>
        <p:spPr>
          <a:xfrm flipV="1">
            <a:off x="6127976" y="1061326"/>
            <a:ext cx="1678776" cy="61264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: изогнутый 22">
            <a:extLst>
              <a:ext uri="{FF2B5EF4-FFF2-40B4-BE49-F238E27FC236}">
                <a16:creationId xmlns:a16="http://schemas.microsoft.com/office/drawing/2014/main" id="{450B1087-3DC2-4848-A981-C29DEFEFDCB3}"/>
              </a:ext>
            </a:extLst>
          </p:cNvPr>
          <p:cNvCxnSpPr>
            <a:stCxn id="116" idx="2"/>
            <a:endCxn id="117" idx="0"/>
          </p:cNvCxnSpPr>
          <p:nvPr/>
        </p:nvCxnSpPr>
        <p:spPr>
          <a:xfrm rot="5400000">
            <a:off x="4464235" y="2431517"/>
            <a:ext cx="807203" cy="1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изогнутый 59">
            <a:extLst>
              <a:ext uri="{FF2B5EF4-FFF2-40B4-BE49-F238E27FC236}">
                <a16:creationId xmlns:a16="http://schemas.microsoft.com/office/drawing/2014/main" id="{7F740320-F65C-4F33-99F1-31F7A988AF32}"/>
              </a:ext>
            </a:extLst>
          </p:cNvPr>
          <p:cNvCxnSpPr>
            <a:cxnSpLocks/>
            <a:stCxn id="117" idx="3"/>
            <a:endCxn id="118" idx="0"/>
          </p:cNvCxnSpPr>
          <p:nvPr/>
        </p:nvCxnSpPr>
        <p:spPr>
          <a:xfrm>
            <a:off x="6127975" y="3189062"/>
            <a:ext cx="3094508" cy="19653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изогнутый 29">
            <a:extLst>
              <a:ext uri="{FF2B5EF4-FFF2-40B4-BE49-F238E27FC236}">
                <a16:creationId xmlns:a16="http://schemas.microsoft.com/office/drawing/2014/main" id="{5FF56A45-F190-41A4-8FBD-9CECFD820DEF}"/>
              </a:ext>
            </a:extLst>
          </p:cNvPr>
          <p:cNvCxnSpPr>
            <a:stCxn id="138" idx="0"/>
            <a:endCxn id="117" idx="1"/>
          </p:cNvCxnSpPr>
          <p:nvPr/>
        </p:nvCxnSpPr>
        <p:spPr>
          <a:xfrm rot="5400000" flipH="1" flipV="1">
            <a:off x="2092702" y="3607580"/>
            <a:ext cx="1933510" cy="109647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Соединитель: изогнутый 66">
            <a:extLst>
              <a:ext uri="{FF2B5EF4-FFF2-40B4-BE49-F238E27FC236}">
                <a16:creationId xmlns:a16="http://schemas.microsoft.com/office/drawing/2014/main" id="{673E48B7-5BC4-4138-A6A0-337B479FE489}"/>
              </a:ext>
            </a:extLst>
          </p:cNvPr>
          <p:cNvCxnSpPr>
            <a:cxnSpLocks/>
            <a:stCxn id="117" idx="2"/>
            <a:endCxn id="113" idx="0"/>
          </p:cNvCxnSpPr>
          <p:nvPr/>
        </p:nvCxnSpPr>
        <p:spPr>
          <a:xfrm rot="16200000" flipH="1">
            <a:off x="4421820" y="3989020"/>
            <a:ext cx="1605705" cy="713674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2"/>
          <p:cNvSpPr txBox="1"/>
          <p:nvPr/>
        </p:nvSpPr>
        <p:spPr>
          <a:xfrm>
            <a:off x="657817" y="729663"/>
            <a:ext cx="2520281" cy="1938992"/>
          </a:xfrm>
          <a:prstGeom prst="rect">
            <a:avLst/>
          </a:prstGeom>
          <a:ln w="19050">
            <a:solidFill>
              <a:srgbClr val="F28C36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b="0" dirty="0"/>
              <a:t>С</a:t>
            </a:r>
            <a:r>
              <a:rPr lang="ru-RU" dirty="0"/>
              <a:t>оздание </a:t>
            </a:r>
            <a:r>
              <a:rPr lang="en-US" dirty="0"/>
              <a:t>WEB / </a:t>
            </a:r>
            <a:r>
              <a:rPr lang="ru-RU" dirty="0"/>
              <a:t>мобильного приложения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Логин (вход)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Меню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Подключение карты и навигации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Создание </a:t>
            </a:r>
            <a:r>
              <a:rPr lang="ru-RU" dirty="0" err="1"/>
              <a:t>свайпа</a:t>
            </a:r>
            <a:r>
              <a:rPr lang="ru-RU" dirty="0"/>
              <a:t> карточек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Сохранения состояния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Визуализация </a:t>
            </a:r>
            <a:r>
              <a:rPr lang="ru-RU" dirty="0" err="1"/>
              <a:t>дашбордов</a:t>
            </a:r>
            <a:r>
              <a:rPr lang="ru-RU" dirty="0"/>
              <a:t> / графиков и таблиц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Создание </a:t>
            </a:r>
            <a:r>
              <a:rPr lang="en-US" dirty="0" err="1"/>
              <a:t>apk</a:t>
            </a:r>
            <a:r>
              <a:rPr lang="en-US" dirty="0"/>
              <a:t> </a:t>
            </a:r>
            <a:r>
              <a:rPr lang="ru-RU" dirty="0"/>
              <a:t>файла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Публикация в магазине приложений</a:t>
            </a:r>
            <a:endParaRPr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4AAE54-9C99-4817-870E-3853C4E929CB}"/>
              </a:ext>
            </a:extLst>
          </p:cNvPr>
          <p:cNvSpPr txBox="1"/>
          <p:nvPr/>
        </p:nvSpPr>
        <p:spPr>
          <a:xfrm>
            <a:off x="581730" y="185950"/>
            <a:ext cx="1109702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Детализация компонентов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9C2589A1-213B-435A-8EAE-D79EEE6263C0}"/>
              </a:ext>
            </a:extLst>
          </p:cNvPr>
          <p:cNvCxnSpPr>
            <a:cxnSpLocks/>
          </p:cNvCxnSpPr>
          <p:nvPr/>
        </p:nvCxnSpPr>
        <p:spPr>
          <a:xfrm>
            <a:off x="581730" y="567403"/>
            <a:ext cx="8863710" cy="0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Рисунок 31" descr="Рисунок 31">
            <a:extLst>
              <a:ext uri="{FF2B5EF4-FFF2-40B4-BE49-F238E27FC236}">
                <a16:creationId xmlns:a16="http://schemas.microsoft.com/office/drawing/2014/main" id="{22FDCECD-AC83-4049-81B1-827FF60B3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28" y="800315"/>
            <a:ext cx="923301" cy="673942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Box 13">
            <a:extLst>
              <a:ext uri="{FF2B5EF4-FFF2-40B4-BE49-F238E27FC236}">
                <a16:creationId xmlns:a16="http://schemas.microsoft.com/office/drawing/2014/main" id="{45F96C1C-A0AF-49CB-8CED-2DC9DB2952C2}"/>
              </a:ext>
            </a:extLst>
          </p:cNvPr>
          <p:cNvSpPr txBox="1"/>
          <p:nvPr/>
        </p:nvSpPr>
        <p:spPr>
          <a:xfrm>
            <a:off x="4773204" y="1299049"/>
            <a:ext cx="2520281" cy="553998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/>
              <a:t>Серверная часть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 err="1"/>
              <a:t>Роутинг</a:t>
            </a:r>
            <a:r>
              <a:rPr lang="ru-RU" dirty="0"/>
              <a:t> и увязка всех компонентов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Swagger </a:t>
            </a:r>
            <a:r>
              <a:rPr lang="ru-RU" dirty="0"/>
              <a:t>для отладки</a:t>
            </a:r>
            <a:endParaRPr dirty="0"/>
          </a:p>
        </p:txBody>
      </p:sp>
      <p:pic>
        <p:nvPicPr>
          <p:cNvPr id="32" name="Picture 6" descr="Picture background">
            <a:extLst>
              <a:ext uri="{FF2B5EF4-FFF2-40B4-BE49-F238E27FC236}">
                <a16:creationId xmlns:a16="http://schemas.microsoft.com/office/drawing/2014/main" id="{B4DDC160-4F8C-4E6A-975C-2BB648567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241" y="1997443"/>
            <a:ext cx="1186900" cy="21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13">
            <a:extLst>
              <a:ext uri="{FF2B5EF4-FFF2-40B4-BE49-F238E27FC236}">
                <a16:creationId xmlns:a16="http://schemas.microsoft.com/office/drawing/2014/main" id="{31F223E9-6CF6-4CC1-9629-FB747E8C72B4}"/>
              </a:ext>
            </a:extLst>
          </p:cNvPr>
          <p:cNvSpPr txBox="1"/>
          <p:nvPr/>
        </p:nvSpPr>
        <p:spPr>
          <a:xfrm>
            <a:off x="8664648" y="960495"/>
            <a:ext cx="2520281" cy="1785104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ru-RU" dirty="0" err="1"/>
              <a:t>Python</a:t>
            </a:r>
            <a:endParaRPr lang="ru-RU" dirty="0"/>
          </a:p>
          <a:p>
            <a:pPr marL="171450" indent="-171450">
              <a:buClr>
                <a:srgbClr val="FD15EC"/>
              </a:buClr>
              <a:buSzPct val="100000"/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/>
              <a:t>Скрипты для структурирования данных и выполнения необходимых вычислений</a:t>
            </a:r>
          </a:p>
          <a:p>
            <a:pPr marL="171450" indent="-171450">
              <a:buClr>
                <a:srgbClr val="FD15EC"/>
              </a:buClr>
              <a:buSzPct val="100000"/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 err="1"/>
              <a:t>Парсинг</a:t>
            </a:r>
            <a:r>
              <a:rPr lang="ru-RU" b="1" dirty="0"/>
              <a:t> данных с сайтов</a:t>
            </a:r>
          </a:p>
          <a:p>
            <a:pPr marL="171450" indent="-171450">
              <a:buClr>
                <a:srgbClr val="FD15EC"/>
              </a:buClr>
              <a:buSzPct val="100000"/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/>
              <a:t>Создание ИИ модели для прогнозирования (нейросеть)</a:t>
            </a:r>
          </a:p>
          <a:p>
            <a:pPr marL="171450" indent="-171450">
              <a:buClr>
                <a:srgbClr val="FD15EC"/>
              </a:buClr>
              <a:buSzPct val="100000"/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/>
              <a:t>Модели для коммуникации с пользователем (отвечает</a:t>
            </a:r>
            <a:r>
              <a:rPr lang="en-US" b="1" dirty="0"/>
              <a:t> </a:t>
            </a:r>
            <a:r>
              <a:rPr lang="ru-RU" b="1" dirty="0"/>
              <a:t>на вопросы пользователя по данным)</a:t>
            </a:r>
          </a:p>
        </p:txBody>
      </p:sp>
      <p:pic>
        <p:nvPicPr>
          <p:cNvPr id="34" name="Picture 6" descr="Picture 6">
            <a:extLst>
              <a:ext uri="{FF2B5EF4-FFF2-40B4-BE49-F238E27FC236}">
                <a16:creationId xmlns:a16="http://schemas.microsoft.com/office/drawing/2014/main" id="{B02F028A-5842-411A-9D4D-953AA0D4A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670" y="2808124"/>
            <a:ext cx="1092936" cy="728625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extBox 4">
            <a:extLst>
              <a:ext uri="{FF2B5EF4-FFF2-40B4-BE49-F238E27FC236}">
                <a16:creationId xmlns:a16="http://schemas.microsoft.com/office/drawing/2014/main" id="{DE03FAFB-5BD7-4B75-B49A-DACAFB5A5162}"/>
              </a:ext>
            </a:extLst>
          </p:cNvPr>
          <p:cNvSpPr txBox="1"/>
          <p:nvPr/>
        </p:nvSpPr>
        <p:spPr>
          <a:xfrm>
            <a:off x="4709675" y="3044338"/>
            <a:ext cx="2520281" cy="553998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PostgreSQL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/>
              <a:t>Хранение данных</a:t>
            </a:r>
          </a:p>
          <a:p>
            <a:pPr marL="171450" indent="-171450"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/>
              <a:t>Первичное </a:t>
            </a:r>
            <a:r>
              <a:rPr lang="ru-RU" b="1" dirty="0" err="1"/>
              <a:t>занкомство</a:t>
            </a:r>
            <a:r>
              <a:rPr lang="ru-RU" b="1" dirty="0"/>
              <a:t> с </a:t>
            </a:r>
            <a:r>
              <a:rPr lang="en-US" b="1" dirty="0"/>
              <a:t>SQL</a:t>
            </a:r>
            <a:endParaRPr b="1" dirty="0"/>
          </a:p>
        </p:txBody>
      </p:sp>
      <p:pic>
        <p:nvPicPr>
          <p:cNvPr id="36" name="Рисунок 25" descr="Рисунок 25">
            <a:extLst>
              <a:ext uri="{FF2B5EF4-FFF2-40B4-BE49-F238E27FC236}">
                <a16:creationId xmlns:a16="http://schemas.microsoft.com/office/drawing/2014/main" id="{DC1F250F-046D-43D0-A0A9-8B7A5EE20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7385" y="3258727"/>
            <a:ext cx="898020" cy="34054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Правая фигурная скобка 1">
            <a:extLst>
              <a:ext uri="{FF2B5EF4-FFF2-40B4-BE49-F238E27FC236}">
                <a16:creationId xmlns:a16="http://schemas.microsoft.com/office/drawing/2014/main" id="{910EB380-78E2-4036-BE4A-F199DCD9D187}"/>
              </a:ext>
            </a:extLst>
          </p:cNvPr>
          <p:cNvSpPr/>
          <p:nvPr/>
        </p:nvSpPr>
        <p:spPr>
          <a:xfrm rot="5400000">
            <a:off x="6144709" y="-1613394"/>
            <a:ext cx="268107" cy="11241891"/>
          </a:xfrm>
          <a:prstGeom prst="rightBrac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313B6B35-9D10-4BCE-A25D-79616383B4C4}"/>
              </a:ext>
            </a:extLst>
          </p:cNvPr>
          <p:cNvSpPr txBox="1"/>
          <p:nvPr/>
        </p:nvSpPr>
        <p:spPr>
          <a:xfrm>
            <a:off x="6867455" y="4668535"/>
            <a:ext cx="2017880" cy="553998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Docker</a:t>
            </a:r>
            <a:endParaRPr dirty="0"/>
          </a:p>
          <a:p>
            <a:pPr marL="171450" indent="-171450"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/>
              <a:t>Сбор пакетов для размещения</a:t>
            </a:r>
            <a:endParaRPr b="1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EC3A501-5533-4DD4-B86E-E3CCBFCD3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288" y="4524455"/>
            <a:ext cx="1599422" cy="89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4">
            <a:extLst>
              <a:ext uri="{FF2B5EF4-FFF2-40B4-BE49-F238E27FC236}">
                <a16:creationId xmlns:a16="http://schemas.microsoft.com/office/drawing/2014/main" id="{63431FA7-328C-46DD-B079-5B8C9990C757}"/>
              </a:ext>
            </a:extLst>
          </p:cNvPr>
          <p:cNvSpPr txBox="1"/>
          <p:nvPr/>
        </p:nvSpPr>
        <p:spPr>
          <a:xfrm>
            <a:off x="3656617" y="4632144"/>
            <a:ext cx="2017880" cy="553998"/>
          </a:xfrm>
          <a:prstGeom prst="rect">
            <a:avLst/>
          </a:prstGeom>
          <a:ln w="19050">
            <a:solidFill>
              <a:schemeClr val="accent4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10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 err="1"/>
              <a:t>TimeWeb</a:t>
            </a:r>
            <a:endParaRPr dirty="0"/>
          </a:p>
          <a:p>
            <a:pPr marL="171450" indent="-171450">
              <a:buFont typeface="Wingdings" panose="05000000000000000000" pitchFamily="2" charset="2"/>
              <a:buChar char="§"/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/>
              <a:t>Размещение решения онлайн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2644632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216</Words>
  <Application>Microsoft Office PowerPoint</Application>
  <PresentationFormat>Широкоэкранный</PresentationFormat>
  <Paragraphs>49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Похилый Евгений Юрьевич</dc:creator>
  <cp:lastModifiedBy>admin</cp:lastModifiedBy>
  <cp:revision>20</cp:revision>
  <dcterms:created xsi:type="dcterms:W3CDTF">2025-01-21T10:48:08Z</dcterms:created>
  <dcterms:modified xsi:type="dcterms:W3CDTF">2025-10-19T12:27:44Z</dcterms:modified>
</cp:coreProperties>
</file>